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58" r:id="rId5"/>
    <p:sldId id="260" r:id="rId6"/>
    <p:sldId id="262" r:id="rId7"/>
    <p:sldId id="263" r:id="rId8"/>
    <p:sldId id="261" r:id="rId9"/>
    <p:sldId id="264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47A8-09B5-EE3D-97E7-F133D6827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D81A8-AD7D-233E-1374-37A1BDA10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39E15-7719-478C-7E59-EFB531F5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2003D-89B0-9158-E5D0-65B5B167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53C39-50AF-37B8-A2E3-696C8E94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63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611D-E54E-4EC0-2EB0-354DCA1F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AFBCE-114E-DEF2-4D01-8AE1B8AB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207B2-8195-1A7C-D9EC-BDA558588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A7796-52AA-1648-7240-3AC4F0D91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73522-93A4-0861-B0AA-D792F731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7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7579-7982-A45C-D4DD-701360FE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B4EB5-C1CD-B66A-D202-6F4750E02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3E42B-37D0-AADD-325C-F4CF6C51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7C4BC-2E73-BC0E-4AFA-1CC4BD0A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6C56B-F7B7-13DE-4F88-8D837679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0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9EFE-B64D-59A1-EFD9-3A33C72B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1C185-D334-1BB8-9619-8563E914AA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96F89-2D46-98BD-22E3-32067AE43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9B400-D01B-BC1A-3BC7-145D4849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5B334-8B70-9A3D-F293-0A7407C9B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3C35B-DE22-B23C-15AA-A6FD1648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7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E348-7232-23B9-FB69-42B904645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08494-36A1-7CFB-2BD6-9FB0193E1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AC826-F3E4-EF76-6909-53C566691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F6A613-9E02-CC34-07C9-1A408658D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64088-F20E-F6B8-70C6-D1BC7D5B3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B2237-2436-0C6C-0A00-D705634AC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F6A9A-9567-D9C3-7EFE-C1687C5E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E644F6-6E78-0EFD-5CC9-9C27D484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4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602E0-700D-FD15-9AAE-4EBF70BB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8087C1-8C52-1AF9-63D4-442ECE69D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B07F6-1089-9E21-EF8B-7550AB17C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8555F-E67D-8276-5323-E62C3AAC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7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4045E5-2550-9E4F-888E-39B27EB1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512210-7D75-69EA-4AA1-2BE76F43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2DDC7-F90A-38D8-0444-288B00BE4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6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7386-2985-2DB7-CFF1-3EBC9392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BE8C1-C2AD-8418-CE2C-1A5A8325C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70967-DB8C-FE47-A698-A0562A4A5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9447F-A705-99AA-DDB4-259B2BFE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278C1-E412-B488-4192-13243ED0F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304B-0898-BC9E-D5E2-9B4BF13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4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24D25-657B-15B9-1CAF-E2383D73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D87F30-1073-7FC4-001E-35073FA88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A709E-FF3E-4A61-75D2-A765E759F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D5CFD-4561-5ABC-FE23-B39AABBCC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40A92-BCF1-EA77-AAC6-1C99AB6F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3B991-063B-A671-FCAC-92FD2570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2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E13B0-0B05-E363-4CD8-AD4E2838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3AC53-D01B-8622-F612-1C03BC8FF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474F6-557E-C792-140C-24FD3A1A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B04AB-13DC-6C12-5DCF-3EA6B44B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FCD3C-2D5D-6607-1563-BC70E701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2DFE1-EE57-2E4B-BA74-DC1354850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65441-1678-5AD9-AD12-0825C6091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3EE97-598D-602A-5938-BA478496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99E18-4D05-2379-DD5D-22EFF29D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973B0-FD1D-4635-65D2-FC62CD1C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8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B0FE1-FE04-B80D-D02D-A4FE5A0CD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DB58-AE8B-8224-611C-97AE475A0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BCE99-9CFF-CAAE-A8FE-EE4442163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15B52-48A6-4570-A432-7FB3FC89A53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0D4D0-B736-19D0-6FB4-989DD08CA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BCC3D-F911-0E4C-AEA5-9834EF8BB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2DBA2B-DBB8-4DF9-81C2-61F91CDA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6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BE65-F814-3EE7-5139-5473CF6BF6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A/B/C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DD444-0F9D-76D4-336A-413096F65B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8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7FE3-8DA8-F5CC-A887-D52EF3000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FFF84-03C5-BD4A-F42E-BA9599A9E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Recommendation</a:t>
            </a:r>
          </a:p>
          <a:p>
            <a:r>
              <a:rPr lang="en-US" dirty="0"/>
              <a:t>Assumptions of A/B/C Test</a:t>
            </a:r>
          </a:p>
          <a:p>
            <a:r>
              <a:rPr lang="en-US" dirty="0"/>
              <a:t>Issue with Primary Metric</a:t>
            </a:r>
          </a:p>
          <a:p>
            <a:r>
              <a:rPr lang="en-US" dirty="0"/>
              <a:t>Solution for Primary Metric</a:t>
            </a:r>
          </a:p>
          <a:p>
            <a:r>
              <a:rPr lang="en-US" dirty="0"/>
              <a:t>Primary Metric Results</a:t>
            </a:r>
          </a:p>
          <a:p>
            <a:r>
              <a:rPr lang="en-US" dirty="0"/>
              <a:t>Secondary Metric Results</a:t>
            </a:r>
          </a:p>
          <a:p>
            <a:r>
              <a:rPr lang="en-US" dirty="0"/>
              <a:t>Appendix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76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6142-C9BF-9B22-58AC-D79B871A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22041-3E0C-10C8-5C76-81953F881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 A is the winner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should be deployed as the default email onboarding journey.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“% with +1 Joiner” is an underpowered metric, feature adoption and ACV are both highly statistically significant with adequate power.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+1 Joiner metric’s non-significance is due to insufficient sample size, not because there is no effect.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 A has more teams with a +1 Joiner, more feature adoption among teams, higher conversion, higher ACV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story of improved engagement and better monetization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844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5299C4-3E5C-8C0E-E74F-44A105BA1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397612"/>
              </p:ext>
            </p:extLst>
          </p:nvPr>
        </p:nvGraphicFramePr>
        <p:xfrm>
          <a:off x="500333" y="96424"/>
          <a:ext cx="10948388" cy="657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3669514197"/>
                    </a:ext>
                  </a:extLst>
                </a:gridCol>
                <a:gridCol w="2350381">
                  <a:extLst>
                    <a:ext uri="{9D8B030D-6E8A-4147-A177-3AD203B41FA5}">
                      <a16:colId xmlns:a16="http://schemas.microsoft.com/office/drawing/2014/main" val="2941514841"/>
                    </a:ext>
                  </a:extLst>
                </a:gridCol>
                <a:gridCol w="2122098">
                  <a:extLst>
                    <a:ext uri="{9D8B030D-6E8A-4147-A177-3AD203B41FA5}">
                      <a16:colId xmlns:a16="http://schemas.microsoft.com/office/drawing/2014/main" val="3334942321"/>
                    </a:ext>
                  </a:extLst>
                </a:gridCol>
                <a:gridCol w="3743864">
                  <a:extLst>
                    <a:ext uri="{9D8B030D-6E8A-4147-A177-3AD203B41FA5}">
                      <a16:colId xmlns:a16="http://schemas.microsoft.com/office/drawing/2014/main" val="237742845"/>
                    </a:ext>
                  </a:extLst>
                </a:gridCol>
                <a:gridCol w="2380890">
                  <a:extLst>
                    <a:ext uri="{9D8B030D-6E8A-4147-A177-3AD203B41FA5}">
                      <a16:colId xmlns:a16="http://schemas.microsoft.com/office/drawing/2014/main" val="741742860"/>
                    </a:ext>
                  </a:extLst>
                </a:gridCol>
              </a:tblGrid>
              <a:tr h="604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579847"/>
                  </a:ext>
                </a:extLst>
              </a:tr>
              <a:tr h="81316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Assignment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SATISFIED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confirmed equal distribution across variants (33% / 40 teams)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942387"/>
                  </a:ext>
                </a:extLst>
              </a:tr>
              <a:tr h="65818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Independence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SATISFIED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team_id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unique; no network effects observed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881604"/>
                  </a:ext>
                </a:extLst>
              </a:tr>
              <a:tr h="6261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Quality &amp; Completeness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VIOLATED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Variant A and B first joiners occur before creation 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838900"/>
                  </a:ext>
                </a:extLst>
              </a:tr>
              <a:tr h="8246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 Randomization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VIOLATED</a:t>
                      </a:r>
                    </a:p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Teams created 09-01 to 09-04, variants created 09-04 to 09-10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580847"/>
                  </a:ext>
                </a:extLst>
              </a:tr>
              <a:tr h="8246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Interference (SUTVA)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SATISFIED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journeys are individual; no spillover between teams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720683"/>
                  </a:ext>
                </a:extLst>
              </a:tr>
              <a:tr h="74554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Sufficient Sample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VIOLATED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 total teams (40 per variant); need power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122063"/>
                  </a:ext>
                </a:extLst>
              </a:tr>
              <a:tr h="6261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 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🔵 TO VERIFY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to confirm email delivery success 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7858394"/>
                  </a:ext>
                </a:extLst>
              </a:tr>
              <a:tr h="8246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Selection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🔵 TO VERIFY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to verify sample represents all eligible new teams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27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167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7A8D8-EDF8-B05D-B5DD-D3DADE251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5083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Concern Assumption #4 – Data Quality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A5300-C83E-1C5F-03BB-683112389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logically impossible values since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one joiner date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BEFORE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date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some teams.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occurs Variant A and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Invalidates “Speed to +1 Joiner” as a primary metric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data pipeline bug,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timezone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mismatch, and/or incorrect field mapping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090FBCA-1E46-0540-30D0-98902791E63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0423" r="10423"/>
          <a:stretch>
            <a:fillRect/>
          </a:stretch>
        </p:blipFill>
        <p:spPr>
          <a:xfrm>
            <a:off x="5019136" y="1257300"/>
            <a:ext cx="6609272" cy="521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81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959C-A662-EF45-9F10-E7FC8D449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A46CE-C84E-82DE-B880-A2FB43D83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5083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Primary Metric Update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66804-24C2-5E03-A527-97FA9855C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teams with “+1 Joiner’s” occurred within the first week of creation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of Teams with +1 Joiner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Metrics: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Adoption Rate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features per team (Breadth)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 per team (Depth)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Teams Using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Converstion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 (PCR)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Contract Value (ACV)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BD9BCC-3EAC-D011-D907-6AAEAED1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170" y="1293962"/>
            <a:ext cx="5834042" cy="478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7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CE91-9981-DF09-ECE7-AF8CADB1E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326E2D-1C01-A6DD-AC13-521F54A34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791495"/>
              </p:ext>
            </p:extLst>
          </p:nvPr>
        </p:nvGraphicFramePr>
        <p:xfrm>
          <a:off x="962324" y="1690688"/>
          <a:ext cx="10515600" cy="2979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359238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307777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411257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66004778"/>
                    </a:ext>
                  </a:extLst>
                </a:gridCol>
              </a:tblGrid>
              <a:tr h="74476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with +1 Joiner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 vs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Signficance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892296"/>
                  </a:ext>
                </a:extLst>
              </a:tr>
              <a:tr h="74476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65.0% (26/40)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59855"/>
                  </a:ext>
                </a:extLst>
              </a:tr>
              <a:tr h="74476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77.5% (31/40)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+12.5 points (+19%)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significant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 = 0.22)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548445"/>
                  </a:ext>
                </a:extLst>
              </a:tr>
              <a:tr h="74476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67.5% (27/40)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+ 2.5 points (+4%)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significant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 = 0.81)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774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762505-C4D3-E568-804A-4929B0DFCD1A}"/>
              </a:ext>
            </a:extLst>
          </p:cNvPr>
          <p:cNvSpPr txBox="1"/>
          <p:nvPr/>
        </p:nvSpPr>
        <p:spPr>
          <a:xfrm>
            <a:off x="962324" y="4705647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Promising trend for Variant A but underpowered (n=40). Would need about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group to confirm 12.5 point improvement with 80% power.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If resources allow, run a larger follow-up 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confirm if this trend is real.</a:t>
            </a:r>
          </a:p>
        </p:txBody>
      </p:sp>
    </p:spTree>
    <p:extLst>
      <p:ext uri="{BB962C8B-B14F-4D97-AF65-F5344CB8AC3E}">
        <p14:creationId xmlns:p14="http://schemas.microsoft.com/office/powerpoint/2010/main" val="2990185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0262C6-77C8-5BFF-4955-CFBB4E5CC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967417"/>
              </p:ext>
            </p:extLst>
          </p:nvPr>
        </p:nvGraphicFramePr>
        <p:xfrm>
          <a:off x="252155" y="1356123"/>
          <a:ext cx="11427743" cy="4124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">
                  <a:extLst>
                    <a:ext uri="{9D8B030D-6E8A-4147-A177-3AD203B41FA5}">
                      <a16:colId xmlns:a16="http://schemas.microsoft.com/office/drawing/2014/main" val="3669514197"/>
                    </a:ext>
                  </a:extLst>
                </a:gridCol>
                <a:gridCol w="1405190">
                  <a:extLst>
                    <a:ext uri="{9D8B030D-6E8A-4147-A177-3AD203B41FA5}">
                      <a16:colId xmlns:a16="http://schemas.microsoft.com/office/drawing/2014/main" val="2941514841"/>
                    </a:ext>
                  </a:extLst>
                </a:gridCol>
                <a:gridCol w="1082062">
                  <a:extLst>
                    <a:ext uri="{9D8B030D-6E8A-4147-A177-3AD203B41FA5}">
                      <a16:colId xmlns:a16="http://schemas.microsoft.com/office/drawing/2014/main" val="3334942321"/>
                    </a:ext>
                  </a:extLst>
                </a:gridCol>
                <a:gridCol w="1328468">
                  <a:extLst>
                    <a:ext uri="{9D8B030D-6E8A-4147-A177-3AD203B41FA5}">
                      <a16:colId xmlns:a16="http://schemas.microsoft.com/office/drawing/2014/main" val="237742845"/>
                    </a:ext>
                  </a:extLst>
                </a:gridCol>
                <a:gridCol w="1362973">
                  <a:extLst>
                    <a:ext uri="{9D8B030D-6E8A-4147-A177-3AD203B41FA5}">
                      <a16:colId xmlns:a16="http://schemas.microsoft.com/office/drawing/2014/main" val="741742860"/>
                    </a:ext>
                  </a:extLst>
                </a:gridCol>
                <a:gridCol w="1431985">
                  <a:extLst>
                    <a:ext uri="{9D8B030D-6E8A-4147-A177-3AD203B41FA5}">
                      <a16:colId xmlns:a16="http://schemas.microsoft.com/office/drawing/2014/main" val="1470748320"/>
                    </a:ext>
                  </a:extLst>
                </a:gridCol>
                <a:gridCol w="2070340">
                  <a:extLst>
                    <a:ext uri="{9D8B030D-6E8A-4147-A177-3AD203B41FA5}">
                      <a16:colId xmlns:a16="http://schemas.microsoft.com/office/drawing/2014/main" val="1114527177"/>
                    </a:ext>
                  </a:extLst>
                </a:gridCol>
                <a:gridCol w="2392395">
                  <a:extLst>
                    <a:ext uri="{9D8B030D-6E8A-4147-A177-3AD203B41FA5}">
                      <a16:colId xmlns:a16="http://schemas.microsoft.com/office/drawing/2014/main" val="1825182482"/>
                    </a:ext>
                  </a:extLst>
                </a:gridCol>
              </a:tblGrid>
              <a:tr h="741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Variant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Significance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Pairwise Significance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579847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Teams Using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70.0% 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Chi² = 7.42,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= 0.025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 vs C: p = 0.013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 vs C: p = 0.82 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838900"/>
                  </a:ext>
                </a:extLst>
              </a:tr>
              <a:tr h="5111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Features per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2.17 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ANOVA: F = 4.30,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= 0.018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 vs C: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 = 0.4293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 significantly lower (p = 0.009) 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580847"/>
                  </a:ext>
                </a:extLst>
              </a:tr>
              <a:tr h="5111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Chi² =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3.360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=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0.1864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 vs C: p =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0.078</a:t>
                      </a:r>
                      <a:r>
                        <a:rPr lang="it-I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 vs C: p = 0.50 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720683"/>
                  </a:ext>
                </a:extLst>
              </a:tr>
              <a:tr h="46213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$1,500 (n=4)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$2,450 (n=10)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$4,000 (n=6)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Variant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ANOVA: F = 81.3,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= 0.000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 vs C: p = 0.001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 vs C: p = 0.000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122063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24CA0A78-1123-33C9-623C-703BBC177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09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Metrics</a:t>
            </a:r>
          </a:p>
        </p:txBody>
      </p:sp>
    </p:spTree>
    <p:extLst>
      <p:ext uri="{BB962C8B-B14F-4D97-AF65-F5344CB8AC3E}">
        <p14:creationId xmlns:p14="http://schemas.microsoft.com/office/powerpoint/2010/main" val="2955960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685B-BD06-5561-8778-C029E4DC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Confirmation of Variant 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scaled to 1,000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70083-B085-E1F0-A728-E2D13558721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 * 10% Conversion * $1,500 ACV (6 teams)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$150,000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 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 * 25% Conversion * $2,450 ACV (10 teams)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$612,500 ✅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 B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 * 15% Conversion * $4,000 ACV (4 teams)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$600,000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411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E475-C9DF-7C45-CBEA-1AF8F1E39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16403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D211-BC01-8762-100E-F7409C54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A/B Test Sample Size for Primary metric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FB37E-9480-6D6A-879E-616B2CAA0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5" y="2353237"/>
            <a:ext cx="11881449" cy="413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5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753</Words>
  <Application>Microsoft Office PowerPoint</Application>
  <PresentationFormat>Widescreen</PresentationFormat>
  <Paragraphs>157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A/B/C Test</vt:lpstr>
      <vt:lpstr>Outline</vt:lpstr>
      <vt:lpstr>Recommendation</vt:lpstr>
      <vt:lpstr>PowerPoint Presentation</vt:lpstr>
      <vt:lpstr>Primary Concern Assumption #4 – Data Quality</vt:lpstr>
      <vt:lpstr>Primary Metric Update</vt:lpstr>
      <vt:lpstr>Primary Metric Results</vt:lpstr>
      <vt:lpstr>Secondary Metrics</vt:lpstr>
      <vt:lpstr>Additional Confirmation of Variant A Revenue scaled to 1,000 teams</vt:lpstr>
      <vt:lpstr>Appendix</vt:lpstr>
      <vt:lpstr>A/B Test Sample Size for Primary metric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Urwin</dc:creator>
  <cp:lastModifiedBy>John Urwin</cp:lastModifiedBy>
  <cp:revision>5</cp:revision>
  <dcterms:created xsi:type="dcterms:W3CDTF">2025-11-09T21:26:10Z</dcterms:created>
  <dcterms:modified xsi:type="dcterms:W3CDTF">2025-11-10T21:35:04Z</dcterms:modified>
</cp:coreProperties>
</file>